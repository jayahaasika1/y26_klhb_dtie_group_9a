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  <p:sldId id="268" r:id="rId14"/>
    <p:sldId id="26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941070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07918"/>
            <a:ext cx="10360660" cy="3607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57065" y="6432753"/>
            <a:ext cx="427799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1320749"/>
            <a:ext cx="94488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/>
              <a:t>Gamified Learning for Rural Education</a:t>
            </a:r>
            <a:endParaRPr b="1" spc="-1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2994736"/>
            <a:ext cx="10668000" cy="23910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3200" spc="-110" dirty="0">
                <a:solidFill>
                  <a:srgbClr val="00B0F0"/>
                </a:solidFill>
                <a:latin typeface="Trebuchet MS"/>
                <a:cs typeface="Trebuchet MS"/>
              </a:rPr>
              <a:t>Design Thinking for innovation &amp; Entrepreneurship (DTIE)</a:t>
            </a: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endParaRPr lang="en-US" sz="3200" spc="-110" dirty="0">
              <a:solidFill>
                <a:srgbClr val="C00000"/>
              </a:solidFill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3200" spc="-110" dirty="0">
                <a:solidFill>
                  <a:srgbClr val="C00000"/>
                </a:solidFill>
                <a:latin typeface="Trebuchet MS"/>
                <a:cs typeface="Trebuchet MS"/>
              </a:rPr>
              <a:t>Section : 1</a:t>
            </a: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3200" spc="-11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endParaRPr sz="3200" dirty="0">
              <a:solidFill>
                <a:srgbClr val="C00000"/>
              </a:solidFill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  <a:spcBef>
                <a:spcPts val="45"/>
              </a:spcBef>
            </a:pPr>
            <a:r>
              <a:rPr lang="en-US" sz="2400" spc="-100" dirty="0">
                <a:solidFill>
                  <a:srgbClr val="00B050"/>
                </a:solidFill>
                <a:latin typeface="Trebuchet MS"/>
                <a:cs typeface="Trebuchet MS"/>
              </a:rPr>
              <a:t>Project Batch-9A</a:t>
            </a:r>
            <a:endParaRPr sz="2400" dirty="0">
              <a:solidFill>
                <a:srgbClr val="00B050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609600"/>
            <a:ext cx="94107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0" dirty="0"/>
              <a:t>Team</a:t>
            </a:r>
            <a:r>
              <a:rPr spc="-105" dirty="0"/>
              <a:t> </a:t>
            </a:r>
            <a:r>
              <a:rPr spc="-70" dirty="0"/>
              <a:t>Members</a:t>
            </a:r>
            <a:r>
              <a:rPr lang="en-US" spc="-70" dirty="0"/>
              <a:t> – Group 9A</a:t>
            </a:r>
            <a:endParaRPr spc="-70" dirty="0"/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535E13-3E69-4606-BAA3-0B8F33A33CAD}"/>
              </a:ext>
            </a:extLst>
          </p:cNvPr>
          <p:cNvSpPr txBox="1"/>
          <p:nvPr/>
        </p:nvSpPr>
        <p:spPr>
          <a:xfrm>
            <a:off x="914400" y="1828800"/>
            <a:ext cx="7239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Jaya </a:t>
            </a:r>
            <a:r>
              <a:rPr lang="en-IN" sz="3200" dirty="0" err="1"/>
              <a:t>Haasika</a:t>
            </a:r>
            <a:r>
              <a:rPr lang="en-IN" sz="3200" dirty="0"/>
              <a:t>  -  2620080077</a:t>
            </a:r>
          </a:p>
          <a:p>
            <a:r>
              <a:rPr lang="en-IN" sz="3200" dirty="0" err="1"/>
              <a:t>Srisukta</a:t>
            </a:r>
            <a:r>
              <a:rPr lang="en-IN" sz="3200" dirty="0"/>
              <a:t> </a:t>
            </a:r>
            <a:r>
              <a:rPr lang="en-IN" sz="3200" dirty="0" err="1"/>
              <a:t>Hiranmayi</a:t>
            </a:r>
            <a:r>
              <a:rPr lang="en-IN" sz="3200" dirty="0"/>
              <a:t>  -  2620030019</a:t>
            </a:r>
          </a:p>
          <a:p>
            <a:r>
              <a:rPr lang="en-IN" sz="3200" dirty="0" err="1"/>
              <a:t>Akshitha</a:t>
            </a:r>
            <a:r>
              <a:rPr lang="en-IN" sz="3200" dirty="0"/>
              <a:t> </a:t>
            </a:r>
            <a:r>
              <a:rPr lang="en-IN" sz="3200" dirty="0" err="1"/>
              <a:t>Satwika</a:t>
            </a:r>
            <a:r>
              <a:rPr lang="en-IN" sz="3200" dirty="0"/>
              <a:t>  -  2620030014</a:t>
            </a:r>
          </a:p>
          <a:p>
            <a:r>
              <a:rPr lang="en-IN" sz="3200" dirty="0" err="1"/>
              <a:t>Sreemayi</a:t>
            </a:r>
            <a:r>
              <a:rPr lang="en-IN" sz="3200" dirty="0"/>
              <a:t>  -  2620030390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Vision</a:t>
            </a:r>
            <a:r>
              <a:rPr spc="-180" dirty="0"/>
              <a:t> </a:t>
            </a:r>
            <a:r>
              <a:rPr spc="-25" dirty="0"/>
              <a:t>and</a:t>
            </a:r>
            <a:r>
              <a:rPr spc="-185" dirty="0"/>
              <a:t> </a:t>
            </a:r>
            <a:r>
              <a:rPr spc="-40" dirty="0"/>
              <a:t>Mission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6">
            <a:extLst>
              <a:ext uri="{FF2B5EF4-FFF2-40B4-BE49-F238E27FC236}">
                <a16:creationId xmlns:a16="http://schemas.microsoft.com/office/drawing/2014/main" id="{507D7311-7F05-D1BA-0F8C-EDE064B2C6D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4E7356-57B5-4482-9268-B93C6D4C73D2}"/>
              </a:ext>
            </a:extLst>
          </p:cNvPr>
          <p:cNvSpPr txBox="1"/>
          <p:nvPr/>
        </p:nvSpPr>
        <p:spPr>
          <a:xfrm>
            <a:off x="907412" y="2081239"/>
            <a:ext cx="109035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475569"/>
                </a:solidFill>
                <a:effectLst/>
                <a:latin typeface="Inter"/>
              </a:rPr>
              <a:t>Bridge the learning poverty gap across 600,000+ Indian villages by making foundational literacy and numeracy as engaging as play.</a:t>
            </a:r>
            <a:endParaRPr lang="en-IN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A1CAD0-273B-4275-A4D2-15646283E480}"/>
              </a:ext>
            </a:extLst>
          </p:cNvPr>
          <p:cNvSpPr txBox="1"/>
          <p:nvPr/>
        </p:nvSpPr>
        <p:spPr>
          <a:xfrm>
            <a:off x="907413" y="1532979"/>
            <a:ext cx="6100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0F172A"/>
                </a:solidFill>
                <a:effectLst/>
                <a:latin typeface="Plus Jakarta Sans"/>
              </a:rPr>
              <a:t>Our Vision 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5D5992-2C7D-4EAA-B052-26413A3FC5CC}"/>
              </a:ext>
            </a:extLst>
          </p:cNvPr>
          <p:cNvSpPr txBox="1"/>
          <p:nvPr/>
        </p:nvSpPr>
        <p:spPr>
          <a:xfrm>
            <a:off x="907413" y="3668766"/>
            <a:ext cx="6100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0F172A"/>
                </a:solidFill>
                <a:effectLst/>
                <a:latin typeface="Plus Jakarta Sans"/>
              </a:rPr>
              <a:t>Our Mission 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2DB212-7683-4670-A922-EC72D43D1D2E}"/>
              </a:ext>
            </a:extLst>
          </p:cNvPr>
          <p:cNvSpPr txBox="1"/>
          <p:nvPr/>
        </p:nvSpPr>
        <p:spPr>
          <a:xfrm>
            <a:off x="907413" y="4264108"/>
            <a:ext cx="94202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475569"/>
                </a:solidFill>
                <a:effectLst/>
                <a:latin typeface="Inter"/>
              </a:rPr>
              <a:t>Deploy zero-data, multi-lingual gamified micro-modules on low-cost smartphones to boost retention and mastery by 3x by 2028.</a:t>
            </a:r>
            <a:endParaRPr lang="en-I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Problem</a:t>
            </a:r>
            <a:r>
              <a:rPr spc="-130" dirty="0"/>
              <a:t> </a:t>
            </a:r>
            <a:r>
              <a:rPr spc="-70" dirty="0"/>
              <a:t>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BFD64D8-5CBA-1604-7781-344782C3E51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80" dirty="0"/>
              <a:t>DTIE   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lang="en-IN" spc="-130" dirty="0"/>
              <a:t>      </a:t>
            </a:r>
            <a:r>
              <a:rPr spc="-110" dirty="0"/>
              <a:t>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6EE05F-2A74-4218-92AC-66D76E892F2D}"/>
              </a:ext>
            </a:extLst>
          </p:cNvPr>
          <p:cNvSpPr txBox="1"/>
          <p:nvPr/>
        </p:nvSpPr>
        <p:spPr>
          <a:xfrm>
            <a:off x="823912" y="1689541"/>
            <a:ext cx="10134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rgbClr val="DC2626"/>
                </a:solidFill>
                <a:effectLst/>
                <a:latin typeface="Inter"/>
              </a:rPr>
              <a:t>53% : </a:t>
            </a:r>
            <a:r>
              <a:rPr lang="en-US" sz="2800" b="0" i="0" dirty="0">
                <a:solidFill>
                  <a:srgbClr val="7F1D1D"/>
                </a:solidFill>
                <a:effectLst/>
                <a:latin typeface="Inter"/>
              </a:rPr>
              <a:t>Grade 5 rural students unable to read standard Grade 2 texts due to passive rote learning methods.</a:t>
            </a:r>
            <a:endParaRPr lang="en-IN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D022BC-1C7C-43A8-AA4E-997FB21CC52C}"/>
              </a:ext>
            </a:extLst>
          </p:cNvPr>
          <p:cNvSpPr txBox="1"/>
          <p:nvPr/>
        </p:nvSpPr>
        <p:spPr>
          <a:xfrm>
            <a:off x="823912" y="2978659"/>
            <a:ext cx="98440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rgbClr val="DC2626"/>
                </a:solidFill>
                <a:effectLst/>
                <a:latin typeface="Inter"/>
              </a:rPr>
              <a:t>46.1% : </a:t>
            </a:r>
            <a:r>
              <a:rPr lang="en-US" sz="2800" b="0" i="0" dirty="0">
                <a:solidFill>
                  <a:srgbClr val="7F1D1D"/>
                </a:solidFill>
                <a:effectLst/>
                <a:latin typeface="Inter"/>
              </a:rPr>
              <a:t>Rural primary schools lacking stable internet connectivity, breaking online EdTech models.</a:t>
            </a:r>
            <a:endParaRPr lang="en-IN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EA39EB-476E-4BAA-A9DE-E97FFE52BDD0}"/>
              </a:ext>
            </a:extLst>
          </p:cNvPr>
          <p:cNvSpPr txBox="1"/>
          <p:nvPr/>
        </p:nvSpPr>
        <p:spPr>
          <a:xfrm>
            <a:off x="823912" y="4379606"/>
            <a:ext cx="98440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rgbClr val="DC2626"/>
                </a:solidFill>
                <a:effectLst/>
                <a:latin typeface="Inter"/>
              </a:rPr>
              <a:t>35% : </a:t>
            </a:r>
            <a:r>
              <a:rPr lang="en-US" sz="2800" b="0" i="0" dirty="0">
                <a:solidFill>
                  <a:srgbClr val="7F1D1D"/>
                </a:solidFill>
                <a:effectLst/>
                <a:latin typeface="Inter"/>
              </a:rPr>
              <a:t>Unengaging traditional curriculum causes low motivation and high early school dropouts.</a:t>
            </a: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Research</a:t>
            </a:r>
            <a:r>
              <a:rPr spc="-170" dirty="0"/>
              <a:t> </a:t>
            </a:r>
            <a:r>
              <a:rPr dirty="0"/>
              <a:t>/</a:t>
            </a:r>
            <a:r>
              <a:rPr spc="-120" dirty="0"/>
              <a:t> </a:t>
            </a:r>
            <a:r>
              <a:rPr spc="-55" dirty="0"/>
              <a:t>Facts</a:t>
            </a:r>
            <a:r>
              <a:rPr spc="-155" dirty="0"/>
              <a:t> </a:t>
            </a:r>
            <a:r>
              <a:rPr dirty="0"/>
              <a:t>/</a:t>
            </a:r>
            <a:r>
              <a:rPr spc="-110" dirty="0"/>
              <a:t> </a:t>
            </a:r>
            <a:r>
              <a:rPr spc="-95" dirty="0"/>
              <a:t>Market</a:t>
            </a:r>
            <a:r>
              <a:rPr spc="-145" dirty="0"/>
              <a:t> </a:t>
            </a:r>
            <a:r>
              <a:rPr dirty="0"/>
              <a:t>&amp;</a:t>
            </a:r>
            <a:r>
              <a:rPr spc="-145" dirty="0"/>
              <a:t> </a:t>
            </a:r>
            <a:r>
              <a:rPr spc="-70" dirty="0"/>
              <a:t>Industry</a:t>
            </a:r>
            <a:r>
              <a:rPr spc="-165" dirty="0"/>
              <a:t> </a:t>
            </a:r>
            <a:r>
              <a:rPr spc="-10" dirty="0"/>
              <a:t>Study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3C74381-BE4E-DEC6-D1B5-C788904343F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FDE13-E0BB-4C64-8C12-CC5E04384118}"/>
              </a:ext>
            </a:extLst>
          </p:cNvPr>
          <p:cNvSpPr txBox="1"/>
          <p:nvPr/>
        </p:nvSpPr>
        <p:spPr>
          <a:xfrm>
            <a:off x="907414" y="1778451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C00000"/>
                </a:solidFill>
                <a:effectLst/>
                <a:latin typeface="Inter"/>
              </a:rPr>
              <a:t>Market Overview: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Inter"/>
              </a:rPr>
              <a:t> </a:t>
            </a:r>
            <a:r>
              <a:rPr lang="en-US" sz="2400" b="0" i="0" dirty="0">
                <a:solidFill>
                  <a:srgbClr val="0F172A"/>
                </a:solidFill>
                <a:effectLst/>
                <a:latin typeface="Inter"/>
              </a:rPr>
              <a:t>India Gamified EdTech market expanding from $50M in 2025 to $204M by 2031 (CAGR of 26.4%).</a:t>
            </a:r>
            <a:endParaRPr lang="en-IN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32380-3C6C-44FF-AB6A-2B4087E93C00}"/>
              </a:ext>
            </a:extLst>
          </p:cNvPr>
          <p:cNvSpPr txBox="1"/>
          <p:nvPr/>
        </p:nvSpPr>
        <p:spPr>
          <a:xfrm>
            <a:off x="907414" y="3155197"/>
            <a:ext cx="9144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C00000"/>
                </a:solidFill>
                <a:effectLst/>
                <a:latin typeface="Inter"/>
              </a:rPr>
              <a:t>Key </a:t>
            </a:r>
            <a:r>
              <a:rPr lang="en-US" sz="2400" b="1" dirty="0">
                <a:solidFill>
                  <a:srgbClr val="C00000"/>
                </a:solidFill>
                <a:latin typeface="Inter"/>
              </a:rPr>
              <a:t>Point</a:t>
            </a:r>
            <a:r>
              <a:rPr lang="en-US" sz="2400" b="1" i="0" dirty="0">
                <a:solidFill>
                  <a:srgbClr val="C00000"/>
                </a:solidFill>
                <a:effectLst/>
                <a:latin typeface="Inter"/>
              </a:rPr>
              <a:t>s:</a:t>
            </a:r>
          </a:p>
          <a:p>
            <a:pPr algn="l"/>
            <a:endParaRPr lang="en-US" sz="2400" b="0" i="0" dirty="0">
              <a:solidFill>
                <a:srgbClr val="FF000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C00000"/>
                </a:solidFill>
                <a:effectLst/>
                <a:latin typeface="Inter"/>
              </a:rPr>
              <a:t>Addressable Rural Learners: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Inter"/>
              </a:rPr>
              <a:t> </a:t>
            </a:r>
            <a:r>
              <a:rPr lang="en-US" sz="2400" b="0" i="0" dirty="0">
                <a:solidFill>
                  <a:srgbClr val="0F172A"/>
                </a:solidFill>
                <a:effectLst/>
                <a:latin typeface="Inter"/>
              </a:rPr>
              <a:t>295 Million primary/secondary K-12 students.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C00000"/>
                </a:solidFill>
                <a:effectLst/>
                <a:latin typeface="Inter"/>
              </a:rPr>
              <a:t>Mobile-First Delivery Share: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Inter"/>
              </a:rPr>
              <a:t> </a:t>
            </a:r>
            <a:r>
              <a:rPr lang="en-US" sz="2400" b="0" i="0" dirty="0">
                <a:solidFill>
                  <a:srgbClr val="0F172A"/>
                </a:solidFill>
                <a:effectLst/>
                <a:latin typeface="Inter"/>
              </a:rPr>
              <a:t>73% market adoption in rural households.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C00000"/>
                </a:solidFill>
                <a:effectLst/>
                <a:latin typeface="Inter"/>
              </a:rPr>
              <a:t>National Mobile Connectivity Base: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Inter"/>
              </a:rPr>
              <a:t> </a:t>
            </a:r>
            <a:r>
              <a:rPr lang="en-US" sz="2400" b="0" i="0" dirty="0">
                <a:solidFill>
                  <a:srgbClr val="0F172A"/>
                </a:solidFill>
                <a:effectLst/>
                <a:latin typeface="Inter"/>
              </a:rPr>
              <a:t>969+ Million total internet subscriptions expanding digital reach.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Target</a:t>
            </a:r>
            <a:r>
              <a:rPr spc="-120" dirty="0"/>
              <a:t> </a:t>
            </a:r>
            <a:r>
              <a:rPr spc="-20" dirty="0"/>
              <a:t>User</a:t>
            </a:r>
            <a:r>
              <a:rPr spc="-160" dirty="0"/>
              <a:t> </a:t>
            </a:r>
            <a:r>
              <a:rPr dirty="0"/>
              <a:t>-</a:t>
            </a:r>
            <a:r>
              <a:rPr spc="-100" dirty="0"/>
              <a:t> </a:t>
            </a:r>
            <a:r>
              <a:rPr spc="-50" dirty="0"/>
              <a:t>Customer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D784422-014D-5CEE-BDAB-EBC6EA68141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F23128-BEC4-4726-8B26-C8823CB85137}"/>
              </a:ext>
            </a:extLst>
          </p:cNvPr>
          <p:cNvSpPr txBox="1"/>
          <p:nvPr/>
        </p:nvSpPr>
        <p:spPr>
          <a:xfrm>
            <a:off x="991869" y="1769536"/>
            <a:ext cx="1020826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0F172A"/>
                </a:solidFill>
                <a:effectLst/>
                <a:latin typeface="Plus Jakarta Sans"/>
              </a:rPr>
              <a:t>Primary Learner : </a:t>
            </a:r>
            <a:r>
              <a:rPr lang="en-IN" sz="2800" b="0" i="0" dirty="0">
                <a:solidFill>
                  <a:srgbClr val="64748B"/>
                </a:solidFill>
                <a:effectLst/>
                <a:latin typeface="Inter"/>
              </a:rPr>
              <a:t>Age 6-12 · Rural Primary</a:t>
            </a:r>
          </a:p>
          <a:p>
            <a:pPr algn="l"/>
            <a:endParaRPr lang="en-IN" sz="2800" b="0" i="0" dirty="0">
              <a:solidFill>
                <a:srgbClr val="64748B"/>
              </a:solidFill>
              <a:effectLst/>
              <a:latin typeface="Inter"/>
            </a:endParaRPr>
          </a:p>
          <a:p>
            <a:pPr algn="l"/>
            <a:r>
              <a:rPr lang="en-US" sz="2800" b="0" i="0" dirty="0">
                <a:solidFill>
                  <a:srgbClr val="475569"/>
                </a:solidFill>
                <a:effectLst/>
                <a:latin typeface="Inter"/>
              </a:rPr>
              <a:t>Motivated by game quests, rewards, regional avatars, and instant visual feedback.</a:t>
            </a:r>
            <a:endParaRPr lang="en-IN" sz="2800" b="1" i="0" dirty="0">
              <a:solidFill>
                <a:srgbClr val="0F172A"/>
              </a:solidFill>
              <a:effectLst/>
              <a:latin typeface="Plus Jakarta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21F217-7529-44A0-B0C0-D3873AEB9575}"/>
              </a:ext>
            </a:extLst>
          </p:cNvPr>
          <p:cNvSpPr txBox="1"/>
          <p:nvPr/>
        </p:nvSpPr>
        <p:spPr>
          <a:xfrm>
            <a:off x="950274" y="3942455"/>
            <a:ext cx="107083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0F172A"/>
                </a:solidFill>
                <a:effectLst/>
                <a:latin typeface="Plus Jakarta Sans"/>
              </a:rPr>
              <a:t>Rural Educator : </a:t>
            </a:r>
            <a:r>
              <a:rPr lang="en-IN" sz="2800" b="0" i="0" dirty="0">
                <a:solidFill>
                  <a:srgbClr val="64748B"/>
                </a:solidFill>
                <a:effectLst/>
                <a:latin typeface="Inter"/>
              </a:rPr>
              <a:t>Government School Teacher</a:t>
            </a:r>
          </a:p>
          <a:p>
            <a:pPr algn="l"/>
            <a:endParaRPr lang="en-IN" sz="2800" dirty="0">
              <a:solidFill>
                <a:srgbClr val="64748B"/>
              </a:solidFill>
              <a:latin typeface="Inter"/>
            </a:endParaRPr>
          </a:p>
          <a:p>
            <a:pPr algn="l"/>
            <a:r>
              <a:rPr lang="en-US" sz="2800" b="0" i="0" dirty="0">
                <a:solidFill>
                  <a:srgbClr val="475569"/>
                </a:solidFill>
                <a:effectLst/>
                <a:latin typeface="Inter"/>
              </a:rPr>
              <a:t>Needs automated progress tracking and offline lesson assistance without technical complexity.</a:t>
            </a:r>
            <a:endParaRPr lang="en-IN" sz="2800" b="1" i="0" dirty="0">
              <a:solidFill>
                <a:srgbClr val="0F172A"/>
              </a:solidFill>
              <a:effectLst/>
              <a:latin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Competitors</a:t>
            </a:r>
            <a:r>
              <a:rPr spc="-185" dirty="0"/>
              <a:t> </a:t>
            </a:r>
            <a:r>
              <a:rPr dirty="0"/>
              <a:t>/</a:t>
            </a:r>
            <a:r>
              <a:rPr spc="-170" dirty="0"/>
              <a:t> </a:t>
            </a:r>
            <a:r>
              <a:rPr spc="-50" dirty="0"/>
              <a:t>Benchmarks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286AD64-7C4C-FDB5-E9DC-E5FA9F69634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DAA517-3800-4254-AFE8-24FBFF1C6219}"/>
              </a:ext>
            </a:extLst>
          </p:cNvPr>
          <p:cNvSpPr txBox="1"/>
          <p:nvPr/>
        </p:nvSpPr>
        <p:spPr>
          <a:xfrm>
            <a:off x="926464" y="1494879"/>
            <a:ext cx="1057973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Some of the common benchmarks are:</a:t>
            </a:r>
          </a:p>
          <a:p>
            <a:endParaRPr lang="en-IN" sz="2400" dirty="0"/>
          </a:p>
          <a:p>
            <a:r>
              <a:rPr lang="en-IN" sz="2400" dirty="0"/>
              <a:t>• </a:t>
            </a:r>
            <a:r>
              <a:rPr lang="en-IN" sz="2400" dirty="0" err="1">
                <a:solidFill>
                  <a:srgbClr val="C00000"/>
                </a:solidFill>
              </a:rPr>
              <a:t>VidyaSetu</a:t>
            </a:r>
            <a:r>
              <a:rPr lang="en-IN" sz="2400" dirty="0">
                <a:solidFill>
                  <a:srgbClr val="C00000"/>
                </a:solidFill>
              </a:rPr>
              <a:t>: </a:t>
            </a:r>
            <a:r>
              <a:rPr lang="en-IN" sz="2400" dirty="0"/>
              <a:t>The leading benchmark for gamified user onboarding. Its landing page immediately pulls the user into a 5-second trial game before requiring registration, an approach highly effective for low-literacy or first-time digital users.</a:t>
            </a:r>
          </a:p>
          <a:p>
            <a:endParaRPr lang="en-IN" sz="2400" dirty="0"/>
          </a:p>
          <a:p>
            <a:r>
              <a:rPr lang="en-IN" sz="2400" dirty="0"/>
              <a:t>• </a:t>
            </a:r>
            <a:r>
              <a:rPr lang="en-IN" sz="2400" dirty="0" err="1">
                <a:solidFill>
                  <a:srgbClr val="C00000"/>
                </a:solidFill>
              </a:rPr>
              <a:t>Gimkit</a:t>
            </a:r>
            <a:r>
              <a:rPr lang="en-IN" sz="2400" dirty="0">
                <a:solidFill>
                  <a:srgbClr val="C00000"/>
                </a:solidFill>
              </a:rPr>
              <a:t>: </a:t>
            </a:r>
            <a:r>
              <a:rPr lang="en-IN" sz="2400" dirty="0"/>
              <a:t>Exceptional benchmarks for dashboard simplification. They showcase how game pin-codes and minimal text entry can instantly launch multiplayer or single-player educational modes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Risks</a:t>
            </a:r>
            <a:r>
              <a:rPr spc="-190" dirty="0"/>
              <a:t> </a:t>
            </a:r>
            <a:r>
              <a:rPr spc="-25" dirty="0"/>
              <a:t>and</a:t>
            </a:r>
            <a:r>
              <a:rPr spc="-204" dirty="0"/>
              <a:t> </a:t>
            </a:r>
            <a:r>
              <a:rPr spc="-25" dirty="0"/>
              <a:t>Gap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1844CD1-F59C-0792-D85E-23EBE09D966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0F323D-2109-494B-977B-3CF2B9E6678F}"/>
              </a:ext>
            </a:extLst>
          </p:cNvPr>
          <p:cNvSpPr txBox="1"/>
          <p:nvPr/>
        </p:nvSpPr>
        <p:spPr>
          <a:xfrm>
            <a:off x="916938" y="1720840"/>
            <a:ext cx="1043686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C00000"/>
                </a:solidFill>
                <a:effectLst/>
                <a:latin typeface="Inter"/>
              </a:rPr>
              <a:t>Hardware Constraints:</a:t>
            </a:r>
            <a:r>
              <a:rPr lang="en-IN" sz="2400" b="0" i="0" dirty="0">
                <a:solidFill>
                  <a:srgbClr val="C00000"/>
                </a:solidFill>
                <a:effectLst/>
                <a:latin typeface="Inter"/>
              </a:rPr>
              <a:t> </a:t>
            </a: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Outdated Android hardware with limited internal memory causing app crashes. </a:t>
            </a:r>
            <a:r>
              <a:rPr lang="en-IN" sz="2400" b="0" i="1" dirty="0">
                <a:solidFill>
                  <a:srgbClr val="0F172A"/>
                </a:solidFill>
                <a:effectLst/>
                <a:latin typeface="Inter"/>
              </a:rPr>
              <a:t>Mitigation:</a:t>
            </a: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 Ultra-lightweight vector graphics engine maintaining build size under 15MB.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400" b="0" i="0" dirty="0">
              <a:solidFill>
                <a:srgbClr val="0F172A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C00000"/>
                </a:solidFill>
                <a:effectLst/>
                <a:latin typeface="Inter"/>
              </a:rPr>
              <a:t>Teacher Resistance:</a:t>
            </a:r>
            <a:r>
              <a:rPr lang="en-IN" sz="2400" b="0" i="0" dirty="0">
                <a:solidFill>
                  <a:srgbClr val="C00000"/>
                </a:solidFill>
                <a:effectLst/>
                <a:latin typeface="Inter"/>
              </a:rPr>
              <a:t> </a:t>
            </a: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Fear of digital replacement or lack of digital literacy among staff. </a:t>
            </a:r>
            <a:r>
              <a:rPr lang="en-IN" sz="2400" b="0" i="1" dirty="0">
                <a:solidFill>
                  <a:srgbClr val="0F172A"/>
                </a:solidFill>
                <a:effectLst/>
                <a:latin typeface="Inter"/>
              </a:rPr>
              <a:t>Mitigation:</a:t>
            </a: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 Teacher co-pilot interface framing educators as quest masters.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400" b="0" i="0" dirty="0">
              <a:solidFill>
                <a:srgbClr val="0F172A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C00000"/>
                </a:solidFill>
                <a:effectLst/>
                <a:latin typeface="Inter"/>
              </a:rPr>
              <a:t>Power Outages:</a:t>
            </a:r>
            <a:r>
              <a:rPr lang="en-IN" sz="2400" b="0" i="0" dirty="0">
                <a:solidFill>
                  <a:srgbClr val="C00000"/>
                </a:solidFill>
                <a:effectLst/>
                <a:latin typeface="Inter"/>
              </a:rPr>
              <a:t> </a:t>
            </a: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Frequent power cuts interrupting daily school activity.</a:t>
            </a:r>
            <a:b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</a:br>
            <a:r>
              <a:rPr lang="en-IN" sz="2400" b="0" i="1" dirty="0">
                <a:solidFill>
                  <a:srgbClr val="0F172A"/>
                </a:solidFill>
                <a:effectLst/>
                <a:latin typeface="Inter"/>
              </a:rPr>
              <a:t>Mitigation:</a:t>
            </a: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 Instant auto-save state after every individual micro-quest module.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609676"/>
            <a:ext cx="101346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Concept/Idea/Prototype/Product/Solution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92EDACC-CD19-7A71-8718-2D25053A38A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E776E7-AAD8-4A65-B4D8-B0CC95A9E6CD}"/>
              </a:ext>
            </a:extLst>
          </p:cNvPr>
          <p:cNvSpPr txBox="1"/>
          <p:nvPr/>
        </p:nvSpPr>
        <p:spPr>
          <a:xfrm>
            <a:off x="533400" y="1532979"/>
            <a:ext cx="10134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chemeClr val="tx1"/>
                </a:solidFill>
                <a:latin typeface="Inter"/>
              </a:rPr>
              <a:t>Our idea is to create a website that:</a:t>
            </a:r>
          </a:p>
          <a:p>
            <a:pPr algn="l"/>
            <a:endParaRPr lang="en-US" sz="2400" b="1" i="0" dirty="0">
              <a:solidFill>
                <a:srgbClr val="C0000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C00000"/>
                </a:solidFill>
                <a:effectLst/>
                <a:latin typeface="Inter"/>
              </a:rPr>
              <a:t>1. Works Without Internet :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Inter"/>
              </a:rPr>
              <a:t> </a:t>
            </a:r>
            <a:r>
              <a:rPr lang="en-US" sz="2400" b="0" i="0" dirty="0">
                <a:solidFill>
                  <a:srgbClr val="0F172A"/>
                </a:solidFill>
                <a:effectLst/>
                <a:latin typeface="Inter"/>
              </a:rPr>
              <a:t>Students can share scores, badges, and progress with nearby classmates using simple device-to-device connections without needing internet.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F172A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C00000"/>
                </a:solidFill>
                <a:effectLst/>
                <a:latin typeface="Inter"/>
              </a:rPr>
              <a:t>2. Fun Math &amp; Reading Games :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Inter"/>
              </a:rPr>
              <a:t> </a:t>
            </a:r>
            <a:r>
              <a:rPr lang="en-US" sz="2400" b="0" i="0" dirty="0">
                <a:solidFill>
                  <a:srgbClr val="0F172A"/>
                </a:solidFill>
                <a:effectLst/>
                <a:latin typeface="Inter"/>
              </a:rPr>
              <a:t>Simple mini-games that automatically adjust difficulty—getting easier or harder based on how well the child answers.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F172A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C00000"/>
                </a:solidFill>
                <a:effectLst/>
                <a:latin typeface="Inter"/>
              </a:rPr>
              <a:t>3. Local Stories &amp; Characters :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Inter"/>
              </a:rPr>
              <a:t> </a:t>
            </a:r>
            <a:r>
              <a:rPr lang="en-US" sz="2400" b="0" i="0" dirty="0">
                <a:solidFill>
                  <a:srgbClr val="0F172A"/>
                </a:solidFill>
                <a:effectLst/>
                <a:latin typeface="Inter"/>
              </a:rPr>
              <a:t>Lessons designed using familiar village folk tales and regional stories so children connect with the content instantly.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Images/Storyboard/Architecture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D93B669-77C1-4A0C-A98C-738A11D7E6F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05CD1E-7F24-41D1-8AA3-4FBA5045F68E}"/>
              </a:ext>
            </a:extLst>
          </p:cNvPr>
          <p:cNvSpPr txBox="1"/>
          <p:nvPr/>
        </p:nvSpPr>
        <p:spPr>
          <a:xfrm>
            <a:off x="514350" y="4191000"/>
            <a:ext cx="11506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IN" sz="2400" b="1" i="0" dirty="0">
                <a:solidFill>
                  <a:srgbClr val="C00000"/>
                </a:solidFill>
                <a:effectLst/>
                <a:latin typeface="Inter"/>
              </a:rPr>
              <a:t>Local Wi-Fi Mesh:</a:t>
            </a:r>
            <a:r>
              <a:rPr lang="en-IN" sz="2400" b="0" i="0" dirty="0">
                <a:solidFill>
                  <a:srgbClr val="C00000"/>
                </a:solidFill>
                <a:effectLst/>
                <a:latin typeface="Inter"/>
              </a:rPr>
              <a:t> </a:t>
            </a: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Zero-cost hotspot connecting student devices within classroom range.</a:t>
            </a:r>
          </a:p>
          <a:p>
            <a:pPr algn="l">
              <a:buFont typeface="+mj-lt"/>
              <a:buAutoNum type="arabicPeriod"/>
            </a:pPr>
            <a:r>
              <a:rPr lang="en-IN" sz="2400" b="1" i="0" dirty="0">
                <a:solidFill>
                  <a:srgbClr val="C00000"/>
                </a:solidFill>
                <a:effectLst/>
                <a:latin typeface="Inter"/>
              </a:rPr>
              <a:t>Student Tablet App:</a:t>
            </a:r>
            <a:r>
              <a:rPr lang="en-IN" sz="2400" b="0" i="0" dirty="0">
                <a:solidFill>
                  <a:srgbClr val="C00000"/>
                </a:solidFill>
                <a:effectLst/>
                <a:latin typeface="Inter"/>
              </a:rPr>
              <a:t> </a:t>
            </a: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Interactive game modules, badges, and adaptive practice.</a:t>
            </a:r>
          </a:p>
          <a:p>
            <a:pPr algn="l">
              <a:buFont typeface="+mj-lt"/>
              <a:buAutoNum type="arabicPeriod"/>
            </a:pPr>
            <a:r>
              <a:rPr lang="en-IN" sz="2400" b="1" i="0" dirty="0">
                <a:solidFill>
                  <a:srgbClr val="C00000"/>
                </a:solidFill>
                <a:effectLst/>
                <a:latin typeface="Inter"/>
              </a:rPr>
              <a:t>Sync Dashboard:</a:t>
            </a:r>
            <a:r>
              <a:rPr lang="en-IN" sz="2400" b="0" i="0" dirty="0">
                <a:solidFill>
                  <a:srgbClr val="C00000"/>
                </a:solidFill>
                <a:effectLst/>
                <a:latin typeface="Inter"/>
              </a:rPr>
              <a:t> </a:t>
            </a: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Weekly aggregate analytics sync when the teacher connects to a mobile network zone.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2DA874-A7CC-44CC-AAF8-0EA27BB90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774" y="1426746"/>
            <a:ext cx="6907029" cy="25693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55600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60" dirty="0"/>
              <a:t>Lean Canvas</a:t>
            </a:r>
            <a:r>
              <a:rPr spc="-185" dirty="0"/>
              <a:t> </a:t>
            </a:r>
            <a:r>
              <a:rPr spc="-30" dirty="0"/>
              <a:t>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FB487C9-3839-22C2-01F2-1C93656AB43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E7E707-FEE4-454F-9B26-EEFD63351294}"/>
              </a:ext>
            </a:extLst>
          </p:cNvPr>
          <p:cNvSpPr txBox="1"/>
          <p:nvPr/>
        </p:nvSpPr>
        <p:spPr>
          <a:xfrm>
            <a:off x="153034" y="1536174"/>
            <a:ext cx="1188593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C00000"/>
                </a:solidFill>
                <a:effectLst/>
                <a:latin typeface="Inter"/>
              </a:rPr>
              <a:t>Problem:</a:t>
            </a:r>
            <a:r>
              <a:rPr lang="en-IN" sz="2400" b="0" i="0" dirty="0">
                <a:solidFill>
                  <a:srgbClr val="C00000"/>
                </a:solidFill>
                <a:effectLst/>
                <a:latin typeface="Inter"/>
              </a:rPr>
              <a:t> </a:t>
            </a: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Low foundational literacy, high absenteeism, lack of rural connectivity.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C00000"/>
                </a:solidFill>
                <a:effectLst/>
                <a:latin typeface="Inter"/>
              </a:rPr>
              <a:t>Solution:</a:t>
            </a:r>
            <a:r>
              <a:rPr lang="en-IN" sz="2400" b="0" i="0" dirty="0">
                <a:solidFill>
                  <a:srgbClr val="C00000"/>
                </a:solidFill>
                <a:effectLst/>
                <a:latin typeface="Inter"/>
              </a:rPr>
              <a:t> </a:t>
            </a: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Offline gamified learning application running on shared local school hardware.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C00000"/>
                </a:solidFill>
                <a:effectLst/>
                <a:latin typeface="Inter"/>
              </a:rPr>
              <a:t>Unique Value Proposition:</a:t>
            </a:r>
            <a:r>
              <a:rPr lang="en-IN" sz="2400" b="0" i="0" dirty="0">
                <a:solidFill>
                  <a:srgbClr val="C00000"/>
                </a:solidFill>
                <a:effectLst/>
                <a:latin typeface="Inter"/>
              </a:rPr>
              <a:t> </a:t>
            </a: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Zero-data vernacular game loops boosting FLN retention by 3x.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C00000"/>
                </a:solidFill>
                <a:effectLst/>
                <a:latin typeface="Inter"/>
              </a:rPr>
              <a:t>Unfair Advantage:</a:t>
            </a: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 Proprietary lightweight mesh-sync protocol tailored for offline rural areas.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C00000"/>
                </a:solidFill>
                <a:effectLst/>
                <a:latin typeface="Inter"/>
              </a:rPr>
              <a:t>Customer Segments:</a:t>
            </a:r>
            <a:r>
              <a:rPr lang="en-IN" sz="2400" b="0" i="0" dirty="0">
                <a:solidFill>
                  <a:srgbClr val="C00000"/>
                </a:solidFill>
                <a:effectLst/>
                <a:latin typeface="Inter"/>
              </a:rPr>
              <a:t> </a:t>
            </a: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State Education Departments, Rural NGOs, Corporate CSR Funds, Village Primary Schools.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C00000"/>
                </a:solidFill>
                <a:effectLst/>
                <a:latin typeface="Inter"/>
              </a:rPr>
              <a:t>Cost Structure:</a:t>
            </a:r>
            <a:r>
              <a:rPr lang="en-IN" sz="2400" b="0" i="0" dirty="0">
                <a:solidFill>
                  <a:srgbClr val="C00000"/>
                </a:solidFill>
                <a:effectLst/>
                <a:latin typeface="Inter"/>
              </a:rPr>
              <a:t> </a:t>
            </a: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Vernacular Content Localization, Mobile App Engineering, School Hub Box Hardware.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C00000"/>
                </a:solidFill>
                <a:effectLst/>
                <a:latin typeface="Inter"/>
              </a:rPr>
              <a:t>Revenue Streams:</a:t>
            </a:r>
            <a:r>
              <a:rPr lang="en-IN" sz="2400" b="0" i="0" dirty="0">
                <a:solidFill>
                  <a:srgbClr val="C00000"/>
                </a:solidFill>
                <a:effectLst/>
                <a:latin typeface="Inter"/>
              </a:rPr>
              <a:t> </a:t>
            </a: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Annual Per-School Licensing Model, NGO Deployment Grants, Government B2G Contracts.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C00000"/>
                </a:solidFill>
                <a:effectLst/>
                <a:latin typeface="Inter"/>
              </a:rPr>
              <a:t>Channel: </a:t>
            </a: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Through offline platform with a gamified learning experience.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Capital</a:t>
            </a:r>
            <a:r>
              <a:rPr lang="en-US" spc="-65" dirty="0"/>
              <a:t> (Financial)</a:t>
            </a:r>
            <a:endParaRPr spc="-65" dirty="0"/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248BDDA-C048-8531-B229-A919C2BFDFF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A83D28-B73B-4399-AC9E-7E0AFE4D1136}"/>
              </a:ext>
            </a:extLst>
          </p:cNvPr>
          <p:cNvSpPr txBox="1"/>
          <p:nvPr/>
        </p:nvSpPr>
        <p:spPr>
          <a:xfrm>
            <a:off x="762000" y="1501730"/>
            <a:ext cx="8839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rgbClr val="C00000"/>
                </a:solidFill>
                <a:effectLst/>
                <a:latin typeface="Inter"/>
              </a:rPr>
              <a:t>Fund Deployment Breakdown:</a:t>
            </a:r>
            <a:endParaRPr lang="en-IN" sz="2400" b="0" i="0" dirty="0">
              <a:solidFill>
                <a:srgbClr val="C0000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App Engineering &amp; Offline Mesh Protocol: </a:t>
            </a:r>
            <a:r>
              <a:rPr lang="en-IN" sz="2400" b="1" i="0" dirty="0">
                <a:solidFill>
                  <a:srgbClr val="0F172A"/>
                </a:solidFill>
                <a:effectLst/>
                <a:latin typeface="Inter"/>
              </a:rPr>
              <a:t>40%</a:t>
            </a:r>
            <a:endParaRPr lang="en-IN" sz="2400" b="0" i="0" dirty="0">
              <a:solidFill>
                <a:srgbClr val="0F172A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Regional Content &amp; 12 Vernacular Languages: </a:t>
            </a:r>
            <a:r>
              <a:rPr lang="en-IN" sz="2400" b="1" i="0" dirty="0">
                <a:solidFill>
                  <a:srgbClr val="0F172A"/>
                </a:solidFill>
                <a:effectLst/>
                <a:latin typeface="Inter"/>
              </a:rPr>
              <a:t>30%</a:t>
            </a:r>
            <a:endParaRPr lang="en-IN" sz="2400" b="0" i="0" dirty="0">
              <a:solidFill>
                <a:srgbClr val="0F172A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Pilot School Field Deployment: </a:t>
            </a:r>
            <a:r>
              <a:rPr lang="en-IN" sz="2400" b="1" i="0" dirty="0">
                <a:solidFill>
                  <a:srgbClr val="0F172A"/>
                </a:solidFill>
                <a:effectLst/>
                <a:latin typeface="Inter"/>
              </a:rPr>
              <a:t>20%</a:t>
            </a:r>
            <a:endParaRPr lang="en-IN" sz="2400" b="0" i="0" dirty="0">
              <a:solidFill>
                <a:srgbClr val="0F172A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Operations &amp; Administration: </a:t>
            </a:r>
            <a:r>
              <a:rPr lang="en-IN" sz="2400" b="1" i="0" dirty="0">
                <a:solidFill>
                  <a:srgbClr val="0F172A"/>
                </a:solidFill>
                <a:effectLst/>
                <a:latin typeface="Inter"/>
              </a:rPr>
              <a:t>10%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400" b="0" i="0" dirty="0">
              <a:solidFill>
                <a:srgbClr val="0F172A"/>
              </a:solidFill>
              <a:effectLst/>
              <a:latin typeface="Inter"/>
            </a:endParaRPr>
          </a:p>
          <a:p>
            <a:pPr algn="l"/>
            <a:r>
              <a:rPr lang="en-IN" sz="2400" b="1" i="0" dirty="0">
                <a:solidFill>
                  <a:srgbClr val="C00000"/>
                </a:solidFill>
                <a:effectLst/>
                <a:latin typeface="Inter"/>
              </a:rPr>
              <a:t>Unit Economics per School:</a:t>
            </a:r>
            <a:endParaRPr lang="en-IN" sz="2400" b="0" i="0" dirty="0">
              <a:solidFill>
                <a:srgbClr val="C0000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Hardware Setup Cost: ₹4,500 / school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Annual SaaS Licensing Contract: ₹12,000 / year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Payback Period: 4.5 Months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F172A"/>
                </a:solidFill>
                <a:effectLst/>
                <a:latin typeface="Inter"/>
              </a:rPr>
              <a:t>Year 3 Projected Revenue: ₹1.8 Crore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Roadmap/Timeline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A7CE7B1-B734-D71E-7FD3-CC0F5022A70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54BC5F-5F9F-4185-B356-B5E70F29DA47}"/>
              </a:ext>
            </a:extLst>
          </p:cNvPr>
          <p:cNvSpPr txBox="1"/>
          <p:nvPr/>
        </p:nvSpPr>
        <p:spPr>
          <a:xfrm>
            <a:off x="940750" y="1646099"/>
            <a:ext cx="1041304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A realistic 12-month implementation roadmap for a rural-focused gamified learning web platform balances technical execution with community-driven validation. In low-resource settings, standard tech deployment timelines must lengthen to accommodate field trials, hardware compatibility syncs, and offline caching tests.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31523E-0883-40A2-B0C7-80B0A4FB70E9}"/>
              </a:ext>
            </a:extLst>
          </p:cNvPr>
          <p:cNvSpPr txBox="1"/>
          <p:nvPr/>
        </p:nvSpPr>
        <p:spPr>
          <a:xfrm>
            <a:off x="916939" y="3646883"/>
            <a:ext cx="610076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sz="2400" dirty="0"/>
              <a:t>Phase 1: Research and Foundation</a:t>
            </a:r>
          </a:p>
          <a:p>
            <a:r>
              <a:rPr lang="en-IN" sz="2400" dirty="0"/>
              <a:t> Phase 2: Prototype and Caching</a:t>
            </a:r>
          </a:p>
          <a:p>
            <a:r>
              <a:rPr lang="en-IN" sz="2400" dirty="0"/>
              <a:t> Phase 3: Pilot trails and Translations</a:t>
            </a:r>
          </a:p>
          <a:p>
            <a:r>
              <a:rPr lang="en-IN" sz="2400" dirty="0"/>
              <a:t> Phase 4: Production Launch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7DC501-1390-414B-86C3-EF9A876C3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742088"/>
            <a:ext cx="8763000" cy="37901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66BA32-392A-479E-9978-D04F2D066A08}"/>
              </a:ext>
            </a:extLst>
          </p:cNvPr>
          <p:cNvSpPr txBox="1"/>
          <p:nvPr/>
        </p:nvSpPr>
        <p:spPr>
          <a:xfrm>
            <a:off x="1066800" y="762000"/>
            <a:ext cx="3400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PROJECT CODE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123444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2501</TotalTime>
  <Words>935</Words>
  <Application>Microsoft Office PowerPoint</Application>
  <PresentationFormat>Widescreen</PresentationFormat>
  <Paragraphs>98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Carlito</vt:lpstr>
      <vt:lpstr>Inter</vt:lpstr>
      <vt:lpstr>Plus Jakarta Sans</vt:lpstr>
      <vt:lpstr>Trebuchet MS</vt:lpstr>
      <vt:lpstr>Office Theme</vt:lpstr>
      <vt:lpstr>Gamified Learning for Rural Education</vt:lpstr>
      <vt:lpstr>Team Members – Group 9A</vt:lpstr>
      <vt:lpstr>Vision and Mission</vt:lpstr>
      <vt:lpstr>Problem Statement</vt:lpstr>
      <vt:lpstr>Research / Facts / Market &amp; Industry Study</vt:lpstr>
      <vt:lpstr>Target User - Customer</vt:lpstr>
      <vt:lpstr>Competitors / Benchmarks</vt:lpstr>
      <vt:lpstr>Risks and Gap</vt:lpstr>
      <vt:lpstr>Concept/Idea/Prototype/Product/Solution</vt:lpstr>
      <vt:lpstr>Images/Storyboard/Architecture</vt:lpstr>
      <vt:lpstr>Lean Canvas Model</vt:lpstr>
      <vt:lpstr>Capital (Financial)</vt:lpstr>
      <vt:lpstr>Roadmap/Timeline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Dr. G. Suresh Kumar</dc:creator>
  <cp:lastModifiedBy>Suresh Babu</cp:lastModifiedBy>
  <cp:revision>16</cp:revision>
  <dcterms:created xsi:type="dcterms:W3CDTF">2024-11-15T04:43:19Z</dcterms:created>
  <dcterms:modified xsi:type="dcterms:W3CDTF">2026-10-16T06:34:09Z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2024-11-15T00:00:00Z</vt:filetime>
  </property>
  <property fmtid="{D5CDD505-2E9C-101B-9397-08002B2CF9AE}" pid="3" name="Producer">
    <vt:lpwstr>3-Heights(TM) PDF Security Shell 4.8.25.2 (http://www.pdf-tools.com)</vt:lpwstr>
  </property>
</Properties>
</file>