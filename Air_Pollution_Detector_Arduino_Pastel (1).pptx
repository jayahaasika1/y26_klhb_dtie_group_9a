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29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502920" y="2651760"/>
            <a:ext cx="4206240" cy="2057400"/>
          </a:xfrm>
          <a:prstGeom prst="roundRect">
            <a:avLst>
              <a:gd name="adj" fmla="val 12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60520" y="2514600"/>
            <a:ext cx="274320" cy="27432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3931920"/>
            <a:ext cx="1463040" cy="1463040"/>
          </a:xfrm>
          <a:prstGeom prst="ellipse">
            <a:avLst/>
          </a:prstGeom>
          <a:solidFill>
            <a:srgbClr val="FBD3B5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4343400"/>
            <a:ext cx="1188720" cy="1188720"/>
          </a:xfrm>
          <a:prstGeom prst="ellipse">
            <a:avLst/>
          </a:prstGeom>
          <a:solidFill>
            <a:srgbClr val="D2C6F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-822960" y="3931920"/>
            <a:ext cx="2103120" cy="2103120"/>
          </a:xfrm>
          <a:prstGeom prst="ellipse">
            <a:avLst/>
          </a:prstGeom>
          <a:solidFill>
            <a:srgbClr val="B8E6D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0" y="-640080"/>
            <a:ext cx="2011680" cy="2011680"/>
          </a:xfrm>
          <a:prstGeom prst="ellipse">
            <a:avLst/>
          </a:prstGeom>
          <a:solidFill>
            <a:srgbClr val="F6C1C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66160" y="-822960"/>
            <a:ext cx="1554480" cy="155448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A8D0F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Detector Using Arduino UNO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Prototype for Monitoring Air Quality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52928"/>
            <a:ext cx="3840480" cy="72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2620030019 - Srisukta Hiranmayi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2620080077 - Jaya </a:t>
            </a:r>
            <a:r>
              <a:rPr lang="en-US" sz="1600" dirty="0" err="1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Haasika</a:t>
            </a:r>
            <a:endParaRPr lang="en-US" sz="1600" dirty="0">
              <a:solidFill>
                <a:srgbClr val="2F3E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2620030390 - Sreemayi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2620030014 – Akshitha Satwika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85816" y="1225296"/>
            <a:ext cx="3493008" cy="20594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noFill/>
            <a:prstDash val="solid"/>
          </a:ln>
        </p:spPr>
      </p:sp>
      <p:pic>
        <p:nvPicPr>
          <p:cNvPr id="7" name="Image 0" descr="/mnt/user-data/uploads/Screenshot_2026-10-15_1335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280160"/>
            <a:ext cx="3383280" cy="19497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85816" y="332135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4343400" y="4069080"/>
            <a:ext cx="457200" cy="457200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55279" y="3291840"/>
            <a:ext cx="1188720" cy="118872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0040" y="100584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A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A8D0F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74903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comes from vehicle emissions, industrial smoke, burning waste and harmful gases.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affects human health and the environment.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Arduino UNO based prototype that senses gases and smoke in the air.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shown on an LCD screen.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0016" y="1179576"/>
            <a:ext cx="4041648" cy="2318127"/>
          </a:xfrm>
          <a:prstGeom prst="roundRect">
            <a:avLst>
              <a:gd name="adj" fmla="val 5000"/>
            </a:avLst>
          </a:prstGeom>
          <a:solidFill>
            <a:srgbClr val="F6C1CF"/>
          </a:solidFill>
          <a:ln w="19050">
            <a:noFill/>
            <a:prstDash val="solid"/>
          </a:ln>
        </p:spPr>
      </p:sp>
      <p:pic>
        <p:nvPicPr>
          <p:cNvPr id="8" name="Image 0" descr="/mnt/user-data/uploads/Screenshot_2026-10-15_133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3931920" cy="22083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00016" y="3534279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0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</a:t>
            </a:r>
            <a:endParaRPr lang="en-US" sz="1100" dirty="0"/>
          </a:p>
        </p:txBody>
      </p:sp>
      <p:sp>
        <p:nvSpPr>
          <p:cNvPr id="14" name="Oval 13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A8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D2C6F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Empathy: Who Is Affected?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EAF4FC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A8D0F0"/>
          </a:solidFill>
          <a:ln w="12700">
            <a:noFill/>
            <a:prstDash val="solid"/>
          </a:ln>
        </p:spPr>
      </p:sp>
      <p:sp>
        <p:nvSpPr>
          <p:cNvPr id="28" name="Oval 27"/>
          <p:cNvSpPr/>
          <p:nvPr/>
        </p:nvSpPr>
        <p:spPr>
          <a:xfrm>
            <a:off x="1517904" y="1069848"/>
            <a:ext cx="438912" cy="438912"/>
          </a:xfrm>
          <a:prstGeom prst="ellipse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97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and elderly people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asthma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 and outdoor workers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5B8DB8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near industries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264408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DEBF0"/>
          </a:solidFill>
          <a:ln w="12700">
            <a:noFill/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29" name="Oval 28"/>
          <p:cNvSpPr/>
          <p:nvPr/>
        </p:nvSpPr>
        <p:spPr>
          <a:xfrm>
            <a:off x="4325112" y="1069848"/>
            <a:ext cx="438912" cy="438912"/>
          </a:xfrm>
          <a:prstGeom prst="ellipse">
            <a:avLst/>
          </a:prstGeom>
          <a:solidFill>
            <a:srgbClr val="C06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097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feel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and breathing trouble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and throat irritation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Headaches and tiredness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 about long-term health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071616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0EBFA"/>
          </a:solidFill>
          <a:ln w="12700">
            <a:noFill/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30" name="Oval 29"/>
          <p:cNvSpPr/>
          <p:nvPr/>
        </p:nvSpPr>
        <p:spPr>
          <a:xfrm>
            <a:off x="7132320" y="1069848"/>
            <a:ext cx="438912" cy="438912"/>
          </a:xfrm>
          <a:prstGeom prst="ellipse">
            <a:avLst/>
          </a:prstGeom>
          <a:solidFill>
            <a:srgbClr val="8B7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0972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know when air is unhealthy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 device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4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instant readings</a:t>
            </a:r>
            <a:endParaRPr lang="en-US" sz="1450" dirty="0"/>
          </a:p>
        </p:txBody>
      </p:sp>
      <p:sp>
        <p:nvSpPr>
          <p:cNvPr id="25" name="Oval 24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D2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321040" y="1417320"/>
            <a:ext cx="320040" cy="320040"/>
          </a:xfrm>
          <a:prstGeom prst="ellipse">
            <a:avLst/>
          </a:prstGeom>
          <a:solidFill>
            <a:srgbClr val="B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32120" y="4343400"/>
            <a:ext cx="365760" cy="365760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0" y="3566160"/>
            <a:ext cx="1280160" cy="128016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005840"/>
            <a:ext cx="5029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D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8E7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F8E7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F6C1C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344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smoke, industrial emissions and burning waste release harmful gases.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harmful gases cannot be seen or smelled.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notice the danger only after health effects begin.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6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monitoring stations are costly and not available everywhere.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3108960" cy="2926080"/>
          </a:xfrm>
          <a:prstGeom prst="roundRect">
            <a:avLst>
              <a:gd name="adj" fmla="val 12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2801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low-cost way to monitor changes in air quality.</a:t>
            </a:r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B8E6D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Arduino and Gas Sensors?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A8D0F0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12801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and MQ sensors are cheap and easy to find.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2801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Build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wiring on a breadboard, with easy programming.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F9EBB5"/>
          </a:solidFill>
          <a:ln w="12700">
            <a:noFill/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31089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changes appear on the LCD within moments.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B8E6D0"/>
          </a:solidFill>
          <a:ln w="12700">
            <a:noFill/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3108960"/>
            <a:ext cx="640080" cy="64008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noFill/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sensors, alerts and Wi-Fi can be added later.</a:t>
            </a:r>
            <a:endParaRPr lang="en-US" sz="1500" dirty="0"/>
          </a:p>
        </p:txBody>
      </p:sp>
      <p:sp>
        <p:nvSpPr>
          <p:cNvPr id="26" name="Oval 2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B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320040" y="914400"/>
            <a:ext cx="85039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BFE6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and Working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43000"/>
            <a:ext cx="79552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3F9AA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UNO reads the signal from the MQ gas sensor placed in the air.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Clr>
                <a:srgbClr val="3F9AA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processes the reading and shows it on the LCD.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Clr>
                <a:srgbClr val="3F9AA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buzzer gives an alert when the reading is high.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7955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7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Arduino UNO, MQ gas sensor, LCD, buzzer, potentiometer, resistors, breadboard, jumper wires, USB cable.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BFE6EE"/>
          </a:solidFill>
          <a:ln w="12700">
            <a:noFill/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562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17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A8D0F0"/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174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Gas Sensor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707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2852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007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F6C1CF"/>
          </a:solidFill>
          <a:ln w="12700">
            <a:noFill/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464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99732" y="3703320"/>
            <a:ext cx="274320" cy="274320"/>
          </a:xfrm>
          <a:prstGeom prst="rightArrow">
            <a:avLst/>
          </a:prstGeom>
          <a:solidFill>
            <a:srgbClr val="FBD3B5"/>
          </a:solidFill>
          <a:ln w="1270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B8E6D0"/>
          </a:solidFill>
          <a:ln w="12700">
            <a:noFill/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+ Buzzer</a:t>
            </a:r>
            <a:endParaRPr lang="en-US" sz="1350" dirty="0"/>
          </a:p>
        </p:txBody>
      </p:sp>
      <p:sp>
        <p:nvSpPr>
          <p:cNvPr id="26" name="Oval 2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B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046720" y="3931920"/>
            <a:ext cx="502920" cy="502920"/>
          </a:xfrm>
          <a:prstGeom prst="ellipse">
            <a:avLst/>
          </a:prstGeom>
          <a:solidFill>
            <a:srgbClr val="BFE6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F6C1C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F8E7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3776" y="996696"/>
            <a:ext cx="3675888" cy="2112695"/>
          </a:xfrm>
          <a:prstGeom prst="roundRect">
            <a:avLst>
              <a:gd name="adj" fmla="val 5000"/>
            </a:avLst>
          </a:prstGeom>
          <a:solidFill>
            <a:srgbClr val="F8E7A8"/>
          </a:solidFill>
          <a:ln w="19050">
            <a:noFill/>
            <a:prstDash val="solid"/>
          </a:ln>
        </p:spPr>
      </p:sp>
      <p:pic>
        <p:nvPicPr>
          <p:cNvPr id="7" name="Image 0" descr="/mnt/user-data/uploads/Screenshot_2026-10-15_133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566160" cy="20029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3776" y="3145967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9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LCD output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11727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2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LCD shows the sensor reading and an air-quality status.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Clr>
                <a:srgbClr val="C0607E"/>
              </a:buClr>
              <a:buSzPct val="100000"/>
              <a:buChar char="•"/>
            </a:pPr>
            <a:r>
              <a:rPr lang="en-US" sz="12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change when the sensor is exposed to smoke or gases.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smoke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safe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2F3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only actual measured values. Readings are not calibrated pollutant concentrations.</a:t>
            </a:r>
            <a:endParaRPr lang="en-US" sz="1100" dirty="0"/>
          </a:p>
        </p:txBody>
      </p:sp>
      <p:sp>
        <p:nvSpPr>
          <p:cNvPr id="16" name="Oval 1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4187952" y="438912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70832" y="4160520"/>
            <a:ext cx="310896" cy="310896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D2C6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B8E6D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611880"/>
          </a:xfrm>
          <a:prstGeom prst="roundRect">
            <a:avLst>
              <a:gd name="adj" fmla="val 5000"/>
            </a:avLst>
          </a:prstGeom>
          <a:solidFill>
            <a:srgbClr val="E6F6EE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502920"/>
          </a:xfrm>
          <a:prstGeom prst="roundRect">
            <a:avLst>
              <a:gd name="adj" fmla="val 30000"/>
            </a:avLst>
          </a:prstGeom>
          <a:solidFill>
            <a:srgbClr val="B8E6D0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prototype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assemble with common parts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 on the LCD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alert for high readings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4A9A74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learning and demos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3611880"/>
          </a:xfrm>
          <a:prstGeom prst="roundRect">
            <a:avLst>
              <a:gd name="adj" fmla="val 5000"/>
            </a:avLst>
          </a:prstGeom>
          <a:solidFill>
            <a:srgbClr val="F0EBFA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023360" cy="502920"/>
          </a:xfrm>
          <a:prstGeom prst="roundRect">
            <a:avLst>
              <a:gd name="adj" fmla="val 30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or Bluetooth connectivity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readings and plot graphs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sensors for reliable estimates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sensors (dust, temperature)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8B72C9"/>
              </a:buClr>
              <a:buSzPct val="100000"/>
              <a:buChar char="•"/>
            </a:pPr>
            <a:r>
              <a:rPr lang="en-US" sz="155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alerts</a:t>
            </a:r>
            <a:endParaRPr lang="en-US" sz="1550" dirty="0"/>
          </a:p>
        </p:txBody>
      </p:sp>
      <p:sp>
        <p:nvSpPr>
          <p:cNvPr id="18" name="Oval 17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B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/>
          <p:cNvSpPr/>
          <p:nvPr/>
        </p:nvSpPr>
        <p:spPr>
          <a:xfrm>
            <a:off x="8412480" y="3977639"/>
            <a:ext cx="274320" cy="27432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1005840"/>
            <a:ext cx="850392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D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0" y="457200"/>
            <a:ext cx="182880" cy="1828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0" y="685800"/>
            <a:ext cx="320040" cy="320040"/>
          </a:xfrm>
          <a:prstGeom prst="ellipse">
            <a:avLst/>
          </a:prstGeom>
          <a:solidFill>
            <a:srgbClr val="F8E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23760" y="-411480"/>
            <a:ext cx="822960" cy="822960"/>
          </a:xfrm>
          <a:prstGeom prst="ellipse">
            <a:avLst/>
          </a:prstGeom>
          <a:solidFill>
            <a:srgbClr val="A8D0F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63840" y="-1005840"/>
            <a:ext cx="1828800" cy="1828800"/>
          </a:xfrm>
          <a:prstGeom prst="ellipse">
            <a:avLst/>
          </a:prstGeom>
          <a:solidFill>
            <a:srgbClr val="F6C1C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70432"/>
            <a:ext cx="79552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air-quality monitoring using Arduino UNO.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 gas sensor responds to gases and smoke.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appear on the LCD, and the buzzer alerts on high values.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useful learning platform for electronic monitoring systems.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Clr>
                <a:srgbClr val="C0607E"/>
              </a:buClr>
              <a:buSzPct val="100000"/>
              <a:buChar char="•"/>
            </a:pPr>
            <a:r>
              <a:rPr lang="en-US" sz="1500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upgrades can make it more informative and reliable.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4023360"/>
            <a:ext cx="7909560" cy="658368"/>
          </a:xfrm>
          <a:prstGeom prst="roundRect">
            <a:avLst>
              <a:gd name="adj" fmla="val 30000"/>
            </a:avLst>
          </a:prstGeom>
          <a:solidFill>
            <a:srgbClr val="D2C6F0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4023360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000" dirty="0"/>
          </a:p>
          <a:p>
            <a:pPr marL="0" indent="0" algn="ctr">
              <a:buNone/>
            </a:pPr>
            <a:r>
              <a:rPr lang="en-US" sz="1300" b="0" dirty="0">
                <a:solidFill>
                  <a:srgbClr val="8B7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13" name="Oval 12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Oval 16"/>
          <p:cNvSpPr/>
          <p:nvPr/>
        </p:nvSpPr>
        <p:spPr>
          <a:xfrm>
            <a:off x="1051560" y="3063240"/>
            <a:ext cx="640080" cy="640080"/>
          </a:xfrm>
          <a:prstGeom prst="ellipse">
            <a:avLst/>
          </a:prstGeom>
          <a:solidFill>
            <a:srgbClr val="A8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rdui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0040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Arduino</a:t>
            </a:r>
          </a:p>
        </p:txBody>
      </p:sp>
      <p:sp>
        <p:nvSpPr>
          <p:cNvPr id="20" name="Oval 19"/>
          <p:cNvSpPr/>
          <p:nvPr/>
        </p:nvSpPr>
        <p:spPr>
          <a:xfrm>
            <a:off x="2651760" y="3063240"/>
            <a:ext cx="640080" cy="640080"/>
          </a:xfrm>
          <a:prstGeom prst="ellipse">
            <a:avLst/>
          </a:prstGeom>
          <a:solidFill>
            <a:srgbClr val="D2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20040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402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MQ Sensor</a:t>
            </a:r>
          </a:p>
        </p:txBody>
      </p:sp>
      <p:sp>
        <p:nvSpPr>
          <p:cNvPr id="23" name="Oval 22"/>
          <p:cNvSpPr/>
          <p:nvPr/>
        </p:nvSpPr>
        <p:spPr>
          <a:xfrm>
            <a:off x="4251960" y="3063240"/>
            <a:ext cx="640080" cy="640080"/>
          </a:xfrm>
          <a:prstGeom prst="ellipse">
            <a:avLst/>
          </a:prstGeom>
          <a:solidFill>
            <a:srgbClr val="B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w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2004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404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Clean Air</a:t>
            </a:r>
          </a:p>
        </p:txBody>
      </p:sp>
      <p:sp>
        <p:nvSpPr>
          <p:cNvPr id="26" name="Oval 25"/>
          <p:cNvSpPr/>
          <p:nvPr/>
        </p:nvSpPr>
        <p:spPr>
          <a:xfrm>
            <a:off x="5852160" y="3063240"/>
            <a:ext cx="640080" cy="640080"/>
          </a:xfrm>
          <a:prstGeom prst="ellipse">
            <a:avLst/>
          </a:prstGeom>
          <a:solidFill>
            <a:srgbClr val="B8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e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200400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406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Environment</a:t>
            </a:r>
          </a:p>
        </p:txBody>
      </p:sp>
      <p:sp>
        <p:nvSpPr>
          <p:cNvPr id="29" name="Oval 28"/>
          <p:cNvSpPr/>
          <p:nvPr/>
        </p:nvSpPr>
        <p:spPr>
          <a:xfrm>
            <a:off x="7452360" y="3063240"/>
            <a:ext cx="640080" cy="640080"/>
          </a:xfrm>
          <a:prstGeom prst="ellipse">
            <a:avLst/>
          </a:prstGeom>
          <a:solidFill>
            <a:srgbClr val="F6C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200400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40880" y="37216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2F3E6B"/>
                </a:solidFill>
                <a:latin typeface="Calibri"/>
              </a:rPr>
              <a:t>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550</Words>
  <Application>Microsoft Office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Pollution Detector Using Arduino UNO</dc:title>
  <dc:subject>PptxGenJS Presentation</dc:subject>
  <dc:creator>PptxGenJS</dc:creator>
  <cp:lastModifiedBy>sreemayi.baratam@gmail.com</cp:lastModifiedBy>
  <cp:revision>2</cp:revision>
  <dcterms:created xsi:type="dcterms:W3CDTF">2026-10-15T08:10:32Z</dcterms:created>
  <dcterms:modified xsi:type="dcterms:W3CDTF">2026-10-15T08:37:12Z</dcterms:modified>
</cp:coreProperties>
</file>