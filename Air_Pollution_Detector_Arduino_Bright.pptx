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502920" y="2606040"/>
            <a:ext cx="4206240" cy="1600200"/>
          </a:xfrm>
          <a:prstGeom prst="roundRect">
            <a:avLst>
              <a:gd name="adj" fmla="val 8000"/>
            </a:avLst>
          </a:prstGeom>
          <a:solidFill>
            <a:srgbClr val="0D47A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0" y="3291840"/>
            <a:ext cx="182880" cy="1828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60520" y="2468880"/>
            <a:ext cx="274320" cy="27432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3931920"/>
            <a:ext cx="1463040" cy="1463040"/>
          </a:xfrm>
          <a:prstGeom prst="ellipse">
            <a:avLst/>
          </a:prstGeom>
          <a:solidFill>
            <a:srgbClr val="FFC83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4297680"/>
            <a:ext cx="1188720" cy="1188720"/>
          </a:xfrm>
          <a:prstGeom prst="ellipse">
            <a:avLst/>
          </a:prstGeom>
          <a:solidFill>
            <a:srgbClr val="7C4D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822960" y="3840480"/>
            <a:ext cx="2103120" cy="2103120"/>
          </a:xfrm>
          <a:prstGeom prst="ellipse">
            <a:avLst/>
          </a:prstGeom>
          <a:solidFill>
            <a:srgbClr val="14B88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0" y="-640080"/>
            <a:ext cx="2011680" cy="2011680"/>
          </a:xfrm>
          <a:prstGeom prst="ellipse">
            <a:avLst/>
          </a:prstGeom>
          <a:solidFill>
            <a:srgbClr val="FF5A6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66160" y="-822960"/>
            <a:ext cx="1554480" cy="1554480"/>
          </a:xfrm>
          <a:prstGeom prst="ellipse">
            <a:avLst/>
          </a:prstGeom>
          <a:solidFill>
            <a:srgbClr val="FFC8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00BCD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Detector Using Arduino UNO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 b="1">
                <a:solidFill>
                  <a:srgbClr val="FFE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Prototype for Monitoring Air Quality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2620030390 - Sreemayi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2620030014 - Akshitha Satwika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2620030019 - SriSukta Hiranmayi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2620080077 - Hasika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85816" y="1225296"/>
            <a:ext cx="3493008" cy="20594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noFill/>
            <a:prstDash val="solid"/>
          </a:ln>
        </p:spPr>
      </p:sp>
      <p:pic>
        <p:nvPicPr>
          <p:cNvPr id="7" name="Image 0" descr="/mnt/user-data/uploads/Screenshot_2026-10-15_1335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280160"/>
            <a:ext cx="3383280" cy="19497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85816" y="332135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4343400" y="4069080"/>
            <a:ext cx="457200" cy="457200"/>
          </a:xfrm>
          <a:prstGeom prst="ellipse">
            <a:avLst/>
          </a:prstGeom>
          <a:solidFill>
            <a:srgbClr val="00BCD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55279" y="3246120"/>
            <a:ext cx="1188720" cy="1188720"/>
          </a:xfrm>
          <a:prstGeom prst="ellipse">
            <a:avLst/>
          </a:prstGeom>
          <a:solidFill>
            <a:srgbClr val="FFC83D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" y="1005840"/>
            <a:ext cx="416052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3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FF5A6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12280" y="502920"/>
            <a:ext cx="201168" cy="201168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75320" y="868680"/>
            <a:ext cx="457200" cy="45720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86600" y="-320040"/>
            <a:ext cx="914400" cy="914400"/>
          </a:xfrm>
          <a:prstGeom prst="ellipse">
            <a:avLst/>
          </a:prstGeom>
          <a:solidFill>
            <a:srgbClr val="FF5A6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35240" y="-777240"/>
            <a:ext cx="2103120" cy="210312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374903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6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comes from vehicle emissions, industrial smoke, burning waste and harmful gases.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6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affects human health and the environment.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6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an Arduino UNO based prototype that senses gases and smoke in the air.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6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shown on an LCD screen.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00016" y="1179576"/>
            <a:ext cx="4041648" cy="2318127"/>
          </a:xfrm>
          <a:prstGeom prst="roundRect">
            <a:avLst>
              <a:gd name="adj" fmla="val 5000"/>
            </a:avLst>
          </a:prstGeom>
          <a:solidFill>
            <a:srgbClr val="FF5A6E"/>
          </a:solidFill>
          <a:ln w="19050">
            <a:noFill/>
            <a:prstDash val="solid"/>
          </a:ln>
        </p:spPr>
      </p:sp>
      <p:pic>
        <p:nvPicPr>
          <p:cNvPr id="8" name="Image 0" descr="/mnt/user-data/uploads/Screenshot_2026-10-15_1336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34440"/>
            <a:ext cx="3931920" cy="220839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00016" y="3534279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 b="1">
                <a:solidFill>
                  <a:srgbClr val="F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prototype</a:t>
            </a:r>
            <a:endParaRPr lang="en-US" sz="1100" dirty="0"/>
          </a:p>
        </p:txBody>
      </p:sp>
      <p:sp>
        <p:nvSpPr>
          <p:cNvPr id="14" name="Oval 13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00BCD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80" y="502920"/>
            <a:ext cx="201168" cy="201168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75320" y="868680"/>
            <a:ext cx="457200" cy="45720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-320040"/>
            <a:ext cx="914400" cy="914400"/>
          </a:xfrm>
          <a:prstGeom prst="ellipse">
            <a:avLst/>
          </a:prstGeom>
          <a:solidFill>
            <a:srgbClr val="00BCD4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-777240"/>
            <a:ext cx="2103120" cy="2103120"/>
          </a:xfrm>
          <a:prstGeom prst="ellipse">
            <a:avLst/>
          </a:prstGeom>
          <a:solidFill>
            <a:srgbClr val="7C4D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Empathy: Who Is Affected?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E3F2FF"/>
          </a:solidFill>
          <a:ln w="12700">
            <a:noFill/>
            <a:prstDash val="solid"/>
          </a:ln>
          <a:effectLst/>
        </p:spPr>
      </p:sp>
      <p:sp>
        <p:nvSpPr>
          <p:cNvPr id="7" name="Shape 5"/>
          <p:cNvSpPr/>
          <p:nvPr/>
        </p:nvSpPr>
        <p:spPr>
          <a:xfrm>
            <a:off x="457200" y="1051560"/>
            <a:ext cx="2606040" cy="822960"/>
          </a:xfrm>
          <a:prstGeom prst="roundRect">
            <a:avLst>
              <a:gd name="adj" fmla="val 20000"/>
            </a:avLst>
          </a:prstGeom>
          <a:solidFill>
            <a:srgbClr val="1E88E5"/>
          </a:solidFill>
          <a:ln w="12700">
            <a:noFill/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0972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574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1E88E5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and elderly people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1E88E5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asthma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1E88E5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police and outdoor workers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1E88E5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near industries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264408" y="105156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FE8EB"/>
          </a:solidFill>
          <a:ln w="12700">
            <a:noFill/>
            <a:prstDash val="solid"/>
          </a:ln>
          <a:effectLst/>
        </p:spPr>
      </p:sp>
      <p:sp>
        <p:nvSpPr>
          <p:cNvPr id="12" name="Shape 9"/>
          <p:cNvSpPr/>
          <p:nvPr/>
        </p:nvSpPr>
        <p:spPr>
          <a:xfrm>
            <a:off x="3264408" y="1051560"/>
            <a:ext cx="2606040" cy="822960"/>
          </a:xfrm>
          <a:prstGeom prst="roundRect">
            <a:avLst>
              <a:gd name="adj" fmla="val 20000"/>
            </a:avLst>
          </a:prstGeom>
          <a:solidFill>
            <a:srgbClr val="FF5A6E"/>
          </a:solidFill>
          <a:ln w="12700">
            <a:noFill/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097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64408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feel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447288" y="20574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 and breathing trouble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and throat irritation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Headaches and tiredness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Worry about long-term health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071616" y="105156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EDE7FF"/>
          </a:solidFill>
          <a:ln w="12700">
            <a:noFill/>
            <a:prstDash val="solid"/>
          </a:ln>
          <a:effectLst/>
        </p:spPr>
      </p:sp>
      <p:sp>
        <p:nvSpPr>
          <p:cNvPr id="17" name="Shape 13"/>
          <p:cNvSpPr/>
          <p:nvPr/>
        </p:nvSpPr>
        <p:spPr>
          <a:xfrm>
            <a:off x="6071616" y="1051560"/>
            <a:ext cx="2606040" cy="82296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 w="12700">
            <a:noFill/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0972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71616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need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254496" y="20574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7C4DFF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way to know when air is unhealthy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7C4DFF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affordable device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7C4DFF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instant readings</a:t>
            </a:r>
            <a:endParaRPr lang="en-US" sz="1450" dirty="0"/>
          </a:p>
        </p:txBody>
      </p:sp>
      <p:sp>
        <p:nvSpPr>
          <p:cNvPr id="25" name="Oval 24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8321040" y="1417320"/>
            <a:ext cx="320040" cy="32004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32120" y="4343400"/>
            <a:ext cx="365760" cy="365760"/>
          </a:xfrm>
          <a:prstGeom prst="ellipse">
            <a:avLst/>
          </a:prstGeom>
          <a:solidFill>
            <a:srgbClr val="7C4D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9520" y="3566160"/>
            <a:ext cx="1280160" cy="1280160"/>
          </a:xfrm>
          <a:prstGeom prst="ellipse">
            <a:avLst/>
          </a:prstGeom>
          <a:solidFill>
            <a:srgbClr val="FFC8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1005840"/>
            <a:ext cx="50292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FFC83D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12280" y="502920"/>
            <a:ext cx="201168" cy="201168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5320" y="868680"/>
            <a:ext cx="457200" cy="45720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86600" y="-320040"/>
            <a:ext cx="914400" cy="914400"/>
          </a:xfrm>
          <a:prstGeom prst="ellipse">
            <a:avLst/>
          </a:prstGeom>
          <a:solidFill>
            <a:srgbClr val="FFC83D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35240" y="-777240"/>
            <a:ext cx="2103120" cy="2103120"/>
          </a:xfrm>
          <a:prstGeom prst="ellipse">
            <a:avLst/>
          </a:prstGeom>
          <a:solidFill>
            <a:srgbClr val="FF5A6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344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6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smoke, industrial emissions and burning waste release harmful gases.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6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harmful gases cannot be seen or smelled.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6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notice the danger only after health effects begin.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6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monitoring stations are costly and not available everywhere.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280160"/>
            <a:ext cx="3108960" cy="2926080"/>
          </a:xfrm>
          <a:prstGeom prst="roundRect">
            <a:avLst>
              <a:gd name="adj" fmla="val 12000"/>
            </a:avLst>
          </a:prstGeom>
          <a:solidFill>
            <a:srgbClr val="FF5A6E"/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28016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low-cost way to monitor changes in air quality.</a:t>
            </a:r>
            <a:endParaRPr lang="en-US" sz="2000" dirty="0"/>
          </a:p>
        </p:txBody>
      </p:sp>
      <p:sp>
        <p:nvSpPr>
          <p:cNvPr id="13" name="Oval 12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FF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1E88E5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12280" y="502920"/>
            <a:ext cx="201168" cy="201168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75320" y="868680"/>
            <a:ext cx="457200" cy="45720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86600" y="-320040"/>
            <a:ext cx="914400" cy="914400"/>
          </a:xfrm>
          <a:prstGeom prst="ellipse">
            <a:avLst/>
          </a:prstGeom>
          <a:solidFill>
            <a:srgbClr val="1E88E5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35240" y="-777240"/>
            <a:ext cx="2103120" cy="2103120"/>
          </a:xfrm>
          <a:prstGeom prst="ellipse">
            <a:avLst/>
          </a:prstGeom>
          <a:solidFill>
            <a:srgbClr val="14B88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Arduino and Gas Sensors?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1E88E5"/>
          </a:solidFill>
          <a:ln w="12700">
            <a:noFill/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0" y="1280160"/>
            <a:ext cx="640080" cy="64008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373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and MQ sensors are cheap and easy to find.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FF5A6E"/>
          </a:solidFill>
          <a:ln w="12700">
            <a:noFill/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280160"/>
            <a:ext cx="640080" cy="64008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noFill/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Build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7373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wiring on a breadboard, with easy programming.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FFC83D"/>
          </a:solidFill>
          <a:ln w="12700">
            <a:noFill/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1880" y="3108960"/>
            <a:ext cx="640080" cy="64008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noFill/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Readings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changes appear on the LCD within moments.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8000"/>
            </a:avLst>
          </a:prstGeom>
          <a:solidFill>
            <a:srgbClr val="14B88A"/>
          </a:solidFill>
          <a:ln w="12700">
            <a:noFill/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3108960"/>
            <a:ext cx="640080" cy="64008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noFill/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sensors, alerts and Wi-Fi can be added later.</a:t>
            </a:r>
            <a:endParaRPr lang="en-US" sz="1500" dirty="0"/>
          </a:p>
        </p:txBody>
      </p:sp>
      <p:sp>
        <p:nvSpPr>
          <p:cNvPr id="26" name="Oval 25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14B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320040" y="914400"/>
            <a:ext cx="85039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7C4D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12280" y="502920"/>
            <a:ext cx="201168" cy="201168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75320" y="868680"/>
            <a:ext cx="457200" cy="45720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86600" y="-320040"/>
            <a:ext cx="914400" cy="914400"/>
          </a:xfrm>
          <a:prstGeom prst="ellipse">
            <a:avLst/>
          </a:prstGeom>
          <a:solidFill>
            <a:srgbClr val="7C4D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35240" y="-777240"/>
            <a:ext cx="2103120" cy="2103120"/>
          </a:xfrm>
          <a:prstGeom prst="ellipse">
            <a:avLst/>
          </a:prstGeom>
          <a:solidFill>
            <a:srgbClr val="00BCD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and Working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143000"/>
            <a:ext cx="79552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00BCD4"/>
              </a:buClr>
              <a:buSzPct val="100000"/>
              <a:buChar char="•"/>
            </a:pPr>
            <a:r>
              <a:rPr lang="en-US" sz="15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Arduino UNO reads the signal from the MQ gas sensor placed in the air.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Clr>
                <a:srgbClr val="00BCD4"/>
              </a:buClr>
              <a:buSzPct val="100000"/>
              <a:buChar char="•"/>
            </a:pPr>
            <a:r>
              <a:rPr lang="en-US" sz="15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Arduino processes the reading and shows it on the LCD.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Clr>
                <a:srgbClr val="00BCD4"/>
              </a:buClr>
              <a:buSzPct val="100000"/>
              <a:buChar char="•"/>
            </a:pPr>
            <a:r>
              <a:rPr lang="en-US" sz="150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buzzer gives an alert when the reading is high.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7955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Arduino UNO, MQ gas sensor, LCD, buzzer, potentiometer, resistors, breadboard, jumper wires, USB cable.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00BCD4"/>
          </a:solidFill>
          <a:ln w="12700">
            <a:noFill/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856232" y="3703320"/>
            <a:ext cx="274320" cy="274320"/>
          </a:xfrm>
          <a:prstGeom prst="rightArrow">
            <a:avLst/>
          </a:prstGeom>
          <a:solidFill>
            <a:srgbClr val="FFC83D"/>
          </a:solidFill>
          <a:ln w="12700">
            <a:noFill/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17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1E88E5"/>
          </a:solidFill>
          <a:ln w="12700">
            <a:noFill/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174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Gas Sensor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570732" y="3703320"/>
            <a:ext cx="274320" cy="274320"/>
          </a:xfrm>
          <a:prstGeom prst="rightArrow">
            <a:avLst/>
          </a:prstGeom>
          <a:solidFill>
            <a:srgbClr val="FFC83D"/>
          </a:solidFill>
          <a:ln w="12700">
            <a:noFill/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862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7C4DFF"/>
          </a:solidFill>
          <a:ln w="12700">
            <a:noFill/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285232" y="3703320"/>
            <a:ext cx="274320" cy="274320"/>
          </a:xfrm>
          <a:prstGeom prst="rightArrow">
            <a:avLst/>
          </a:prstGeom>
          <a:solidFill>
            <a:srgbClr val="FFC83D"/>
          </a:solidFill>
          <a:ln w="12700">
            <a:noFill/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007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FF5A6E"/>
          </a:solidFill>
          <a:ln w="12700">
            <a:noFill/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464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99732" y="3703320"/>
            <a:ext cx="274320" cy="274320"/>
          </a:xfrm>
          <a:prstGeom prst="rightArrow">
            <a:avLst/>
          </a:prstGeom>
          <a:solidFill>
            <a:srgbClr val="FFC83D"/>
          </a:solidFill>
          <a:ln w="12700">
            <a:noFill/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3291840"/>
            <a:ext cx="1371600" cy="1097280"/>
          </a:xfrm>
          <a:prstGeom prst="roundRect">
            <a:avLst>
              <a:gd name="adj" fmla="val 18000"/>
            </a:avLst>
          </a:prstGeom>
          <a:solidFill>
            <a:srgbClr val="14B88A"/>
          </a:solidFill>
          <a:ln w="12700">
            <a:noFill/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092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 + Buzzer</a:t>
            </a:r>
            <a:endParaRPr lang="en-US" sz="1350" dirty="0"/>
          </a:p>
        </p:txBody>
      </p:sp>
      <p:sp>
        <p:nvSpPr>
          <p:cNvPr id="26" name="Oval 25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8046720" y="3931920"/>
            <a:ext cx="502920" cy="502920"/>
          </a:xfrm>
          <a:prstGeom prst="ellipse">
            <a:avLst/>
          </a:prstGeom>
          <a:solidFill>
            <a:srgbClr val="00BCD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FF5A6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12280" y="502920"/>
            <a:ext cx="201168" cy="201168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20" y="868680"/>
            <a:ext cx="457200" cy="457200"/>
          </a:xfrm>
          <a:prstGeom prst="ellipse">
            <a:avLst/>
          </a:prstGeom>
          <a:solidFill>
            <a:srgbClr val="FF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0" y="-320040"/>
            <a:ext cx="914400" cy="914400"/>
          </a:xfrm>
          <a:prstGeom prst="ellipse">
            <a:avLst/>
          </a:prstGeom>
          <a:solidFill>
            <a:srgbClr val="FF5A6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-777240"/>
            <a:ext cx="2103120" cy="2103120"/>
          </a:xfrm>
          <a:prstGeom prst="ellipse">
            <a:avLst/>
          </a:prstGeom>
          <a:solidFill>
            <a:srgbClr val="FFC8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93776" y="996696"/>
            <a:ext cx="3675888" cy="2112695"/>
          </a:xfrm>
          <a:prstGeom prst="roundRect">
            <a:avLst>
              <a:gd name="adj" fmla="val 5000"/>
            </a:avLst>
          </a:prstGeom>
          <a:solidFill>
            <a:srgbClr val="FFC83D"/>
          </a:solidFill>
          <a:ln w="19050">
            <a:noFill/>
            <a:prstDash val="solid"/>
          </a:ln>
        </p:spPr>
      </p:sp>
      <p:pic>
        <p:nvPicPr>
          <p:cNvPr id="7" name="Image 0" descr="/mnt/user-data/uploads/Screenshot_2026-10-15_1336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566160" cy="20029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93776" y="3145967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 b="1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with LCD output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11727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2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LCD shows the sensor reading and an air-quality status.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2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change when the sensor is exposed to smoke or gases.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air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smoke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safe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7EE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754880" y="3291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only actual measured values. Readings are not calibrated pollutant concentrations.</a:t>
            </a:r>
            <a:endParaRPr lang="en-US" sz="1100" dirty="0"/>
          </a:p>
        </p:txBody>
      </p:sp>
      <p:sp>
        <p:nvSpPr>
          <p:cNvPr id="16" name="Oval 15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4187952" y="4389120"/>
            <a:ext cx="182880" cy="182880"/>
          </a:xfrm>
          <a:prstGeom prst="ellipse">
            <a:avLst/>
          </a:prstGeom>
          <a:solidFill>
            <a:srgbClr val="FF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70832" y="4160520"/>
            <a:ext cx="310896" cy="310896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7C4D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12280" y="502920"/>
            <a:ext cx="201168" cy="201168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0" y="868680"/>
            <a:ext cx="457200" cy="45720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6600" y="-320040"/>
            <a:ext cx="914400" cy="914400"/>
          </a:xfrm>
          <a:prstGeom prst="ellipse">
            <a:avLst/>
          </a:prstGeom>
          <a:solidFill>
            <a:srgbClr val="7C4D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-777240"/>
            <a:ext cx="2103120" cy="2103120"/>
          </a:xfrm>
          <a:prstGeom prst="ellipse">
            <a:avLst/>
          </a:prstGeom>
          <a:solidFill>
            <a:srgbClr val="14B88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Future Scope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611880"/>
          </a:xfrm>
          <a:prstGeom prst="roundRect">
            <a:avLst>
              <a:gd name="adj" fmla="val 5000"/>
            </a:avLst>
          </a:prstGeom>
          <a:solidFill>
            <a:srgbClr val="DDF7EE"/>
          </a:solidFill>
          <a:ln w="12700">
            <a:noFill/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4023360" cy="502920"/>
          </a:xfrm>
          <a:prstGeom prst="roundRect">
            <a:avLst>
              <a:gd name="adj" fmla="val 30000"/>
            </a:avLst>
          </a:prstGeom>
          <a:solidFill>
            <a:srgbClr val="14B88A"/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14B88A"/>
              </a:buClr>
              <a:buSzPct val="100000"/>
              <a:buChar char="•"/>
            </a:pPr>
            <a:r>
              <a:rPr lang="en-US" sz="15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prototype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14B88A"/>
              </a:buClr>
              <a:buSzPct val="100000"/>
              <a:buChar char="•"/>
            </a:pPr>
            <a:r>
              <a:rPr lang="en-US" sz="15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assemble with common parts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14B88A"/>
              </a:buClr>
              <a:buSzPct val="100000"/>
              <a:buChar char="•"/>
            </a:pPr>
            <a:r>
              <a:rPr lang="en-US" sz="15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readings on the LCD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14B88A"/>
              </a:buClr>
              <a:buSzPct val="100000"/>
              <a:buChar char="•"/>
            </a:pPr>
            <a:r>
              <a:rPr lang="en-US" sz="15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alert for high readings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14B88A"/>
              </a:buClr>
              <a:buSzPct val="100000"/>
              <a:buChar char="•"/>
            </a:pPr>
            <a:r>
              <a:rPr lang="en-US" sz="15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learning and demos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3611880"/>
          </a:xfrm>
          <a:prstGeom prst="roundRect">
            <a:avLst>
              <a:gd name="adj" fmla="val 5000"/>
            </a:avLst>
          </a:prstGeom>
          <a:solidFill>
            <a:srgbClr val="EDE7FF"/>
          </a:solidFill>
          <a:ln w="12700">
            <a:noFill/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4023360" cy="502920"/>
          </a:xfrm>
          <a:prstGeom prst="roundRect">
            <a:avLst>
              <a:gd name="adj" fmla="val 30000"/>
            </a:avLst>
          </a:prstGeom>
          <a:solidFill>
            <a:srgbClr val="7C4DFF"/>
          </a:solidFill>
          <a:ln w="12700">
            <a:noFill/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7C4DFF"/>
              </a:buClr>
              <a:buSzPct val="100000"/>
              <a:buChar char="•"/>
            </a:pPr>
            <a:r>
              <a:rPr lang="en-US" sz="15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or Bluetooth connectivity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7C4DFF"/>
              </a:buClr>
              <a:buSzPct val="100000"/>
              <a:buChar char="•"/>
            </a:pPr>
            <a:r>
              <a:rPr lang="en-US" sz="15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readings and plot graphs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7C4DFF"/>
              </a:buClr>
              <a:buSzPct val="100000"/>
              <a:buChar char="•"/>
            </a:pPr>
            <a:r>
              <a:rPr lang="en-US" sz="15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sensors for reliable estimates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7C4DFF"/>
              </a:buClr>
              <a:buSzPct val="100000"/>
              <a:buChar char="•"/>
            </a:pPr>
            <a:r>
              <a:rPr lang="en-US" sz="15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sensors (dust, temperature)</a:t>
            </a:r>
            <a:endParaRPr lang="en-US" sz="1550" dirty="0"/>
          </a:p>
          <a:p>
            <a:pPr marL="342900" indent="-342900">
              <a:spcAft>
                <a:spcPts val="800"/>
              </a:spcAft>
              <a:buClr>
                <a:srgbClr val="7C4DFF"/>
              </a:buClr>
              <a:buSzPct val="100000"/>
              <a:buChar char="•"/>
            </a:pPr>
            <a:r>
              <a:rPr lang="en-US" sz="15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alerts</a:t>
            </a:r>
            <a:endParaRPr lang="en-US" sz="1550" dirty="0"/>
          </a:p>
        </p:txBody>
      </p:sp>
      <p:sp>
        <p:nvSpPr>
          <p:cNvPr id="18" name="Oval 17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14B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8412480" y="1188720"/>
            <a:ext cx="274320" cy="274320"/>
          </a:xfrm>
          <a:prstGeom prst="ellipse">
            <a:avLst/>
          </a:prstGeom>
          <a:solidFill>
            <a:srgbClr val="14B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0" y="425196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18120" y="3886200"/>
            <a:ext cx="1097280" cy="1097280"/>
          </a:xfrm>
          <a:prstGeom prst="ellipse">
            <a:avLst/>
          </a:prstGeom>
          <a:solidFill>
            <a:srgbClr val="FFC8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1005840"/>
            <a:ext cx="512064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4846320"/>
            <a:ext cx="146304" cy="146304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" y="4754880"/>
            <a:ext cx="256032" cy="256032"/>
          </a:xfrm>
          <a:prstGeom prst="ellipse">
            <a:avLst/>
          </a:prstGeom>
          <a:solidFill>
            <a:srgbClr val="1E88E5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12280" y="502920"/>
            <a:ext cx="201168" cy="201168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5320" y="868680"/>
            <a:ext cx="457200" cy="45720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86600" y="-320040"/>
            <a:ext cx="914400" cy="914400"/>
          </a:xfrm>
          <a:prstGeom prst="ellipse">
            <a:avLst/>
          </a:prstGeom>
          <a:solidFill>
            <a:srgbClr val="1E88E5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35240" y="-777240"/>
            <a:ext cx="2103120" cy="2103120"/>
          </a:xfrm>
          <a:prstGeom prst="ellipse">
            <a:avLst/>
          </a:prstGeom>
          <a:solidFill>
            <a:srgbClr val="FF5A6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1887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shows air-quality monitoring using Arduino UNO.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MQ gas sensor responds to gases and smoke.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appear on the LCD, and the buzzer alerts on high values.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useful learning platform for electronic monitoring systems.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Clr>
                <a:srgbClr val="FF5A6E"/>
              </a:buClr>
              <a:buSzPct val="100000"/>
              <a:buChar char="•"/>
            </a:pPr>
            <a:r>
              <a:rPr lang="en-US" sz="1450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upgrades can make it more informative and reliable.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577840" y="1097280"/>
            <a:ext cx="3108960" cy="3383280"/>
          </a:xfrm>
          <a:prstGeom prst="roundRect">
            <a:avLst>
              <a:gd name="adj" fmla="val 12000"/>
            </a:avLst>
          </a:prstGeom>
          <a:solidFill>
            <a:srgbClr val="7C4DFF"/>
          </a:solidFill>
          <a:ln w="12700">
            <a:noFill/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77840" y="109728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FFE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13" name="Oval 12"/>
          <p:cNvSpPr/>
          <p:nvPr/>
        </p:nvSpPr>
        <p:spPr>
          <a:xfrm>
            <a:off x="8430768" y="4690872"/>
            <a:ext cx="365760" cy="365760"/>
          </a:xfrm>
          <a:prstGeom prst="ellipse">
            <a:avLst/>
          </a:prstGeom>
          <a:solidFill>
            <a:srgbClr val="FF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 txBox="1"/>
          <p:nvPr/>
        </p:nvSpPr>
        <p:spPr>
          <a:xfrm>
            <a:off x="843076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Pollution Detector Using Arduino UNO</dc:title>
  <dc:subject>PptxGenJS Presentation</dc:subject>
  <dc:creator>PptxGenJS</dc:creator>
  <cp:lastModifiedBy>PptxGenJS</cp:lastModifiedBy>
  <cp:revision>1</cp:revision>
  <dcterms:created xsi:type="dcterms:W3CDTF">2026-10-15T08:10:32Z</dcterms:created>
  <dcterms:modified xsi:type="dcterms:W3CDTF">2026-10-15T08:10:32Z</dcterms:modified>
</cp:coreProperties>
</file>